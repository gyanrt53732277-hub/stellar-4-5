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46704" y="1371600"/>
            <a:ext cx="5486400" cy="41148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3F4F6"/>
                </a:solidFill>
                <a:latin typeface="Trebuchet MS"/>
              </a:defRPr>
            </a:pPr>
            <a:r>
              <a:t>StellarEscrow</a:t>
            </a:r>
          </a:p>
          <a:p>
            <a:pPr algn="ctr">
              <a:spcBef>
                <a:spcPts val="1400"/>
              </a:spcBef>
              <a:defRPr sz="2200">
                <a:solidFill>
                  <a:srgbClr val="F59E0B"/>
                </a:solidFill>
                <a:latin typeface="Calibri"/>
              </a:defRPr>
            </a:pPr>
            <a:r>
              <a:t>Trustless milestone-based payments for the global freelance economy.</a:t>
            </a:r>
          </a:p>
          <a:p>
            <a:pPr algn="ctr">
              <a:spcBef>
                <a:spcPts val="2000"/>
              </a:spcBef>
              <a:defRPr sz="1200" b="1">
                <a:solidFill>
                  <a:srgbClr val="3B82F6"/>
                </a:solidFill>
                <a:latin typeface="Calibri"/>
              </a:defRPr>
            </a:pPr>
            <a:r>
              <a:t>BUILT ON STELLAR  •  POWERED BY SOROBAN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STELLAR ESCROW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Trebuchet MS"/>
              </a:defRPr>
            </a:pPr>
            <a:r>
              <a:t>The Freelance Payment &amp; Trust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393192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Payment Delays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29% of freelancers experience chronic payment delays.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Clients hold leverage, leaving freelancers with zero protection after work is submitted.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377440" cy="393192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Heavy Payout Fees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Cross-border payments cost 5% to 10% in currency conversion and wire transfer fees.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Traditional banks and payment networks exploit remote builders.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828800"/>
            <a:ext cx="2377440" cy="393192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Clearing Delays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International wire clearings take 3 to 7 business days.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Slow liquidity cycles restrict cash flows for digital creators.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828800"/>
            <a:ext cx="2377440" cy="393192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011680"/>
            <a:ext cx="2011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Marketplace Cut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Upwork &amp; Fiverr extract up to 20% in platform commissions.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Middlemen capture the value created entirely by independent talent.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STELLAR ESCROW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Trebuchet MS"/>
              </a:defRPr>
            </a:pPr>
            <a:r>
              <a:t>Trustless Milestone-Based Escrows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✔ Milestone-Locked Funds</a:t>
            </a:r>
          </a:p>
          <a:p>
            <a:pPr>
              <a:spcBef>
                <a:spcPts val="400"/>
              </a:spcBef>
              <a:defRPr sz="1200">
                <a:solidFill>
                  <a:srgbClr val="F3F4F6"/>
                </a:solidFill>
                <a:latin typeface="Calibri"/>
              </a:defRPr>
            </a:pPr>
            <a:r>
              <a:t>Clients secure payments upfront directly inside an on-chain smart contract escrow. Freelancers verify the capital is locked before starting work.</a:t>
            </a:r>
          </a:p>
          <a:p>
            <a:pPr>
              <a:spcBef>
                <a:spcPts val="1500"/>
              </a:spcBef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✔ Automatic Payout Releases</a:t>
            </a:r>
          </a:p>
          <a:p>
            <a:pPr>
              <a:spcBef>
                <a:spcPts val="400"/>
              </a:spcBef>
              <a:defRPr sz="1200">
                <a:solidFill>
                  <a:srgbClr val="F3F4F6"/>
                </a:solidFill>
                <a:latin typeface="Calibri"/>
              </a:defRPr>
            </a:pPr>
            <a:r>
              <a:t>Upon task completion and client approval, the escrowed funds instantly unlock on-chain, eliminating middleman dependency.</a:t>
            </a:r>
          </a:p>
          <a:p>
            <a:pPr>
              <a:spcBef>
                <a:spcPts val="1500"/>
              </a:spcBef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✔ Zero Brokerage Commissions</a:t>
            </a:r>
          </a:p>
          <a:p>
            <a:pPr>
              <a:spcBef>
                <a:spcPts val="400"/>
              </a:spcBef>
              <a:defRPr sz="1200">
                <a:solidFill>
                  <a:srgbClr val="F3F4F6"/>
                </a:solidFill>
                <a:latin typeface="Calibri"/>
              </a:defRPr>
            </a:pPr>
            <a:r>
              <a:t>No platform commissions or escrow service cut. Value transfers directly from Client to Freelancer, trustlessly.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5029200" cy="109728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Trebuchet MS"/>
              </a:defRPr>
            </a:pPr>
            <a:r>
              <a:t>1. Client Deposits XLM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Locks project milestone amount into the Soroban contract.</a:t>
            </a:r>
          </a:p>
        </p:txBody>
      </p:sp>
      <p:sp>
        <p:nvSpPr>
          <p:cNvPr id="9" name="Down Arrow 8"/>
          <p:cNvSpPr/>
          <p:nvPr/>
        </p:nvSpPr>
        <p:spPr>
          <a:xfrm>
            <a:off x="8229600" y="3017520"/>
            <a:ext cx="457200" cy="365760"/>
          </a:xfrm>
          <a:prstGeom prst="down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3474720"/>
            <a:ext cx="5029200" cy="109728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6576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Trebuchet MS"/>
              </a:defRPr>
            </a:pPr>
            <a:r>
              <a:t>2. Secure Soroban Escrow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Contract holds funds securely on-chain. Work is submitted.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229600" y="4663440"/>
            <a:ext cx="457200" cy="365760"/>
          </a:xfrm>
          <a:prstGeom prst="down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0" y="5120640"/>
            <a:ext cx="5029200" cy="109728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53035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3. Automated Release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Client approves the milestone, triggering auto-payment transfer.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STELLAR ESCROW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Trebuchet MS"/>
              </a:defRPr>
            </a:pPr>
            <a:r>
              <a:t>Why Build on Stellar &amp; Soroban?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Trebuchet MS"/>
              </a:defRPr>
            </a:pPr>
            <a:r>
              <a:t>Extreme Efficiency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3-5 Second Payouts: Settles transactions near-instantly compared to days via traditional banking networks.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Fractional Fees: Transaction costs are less than 1/10,000th of a cent, avoiding Ethereum's gas fee surges.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High Scalability: Built to handle global retail payment throughput natively.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Trebuchet MS"/>
              </a:defRPr>
            </a:pPr>
            <a:r>
              <a:t>Ecosystem Anchors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Direct Fiat Access: Stellar Anchors allow direct USD/Euro stablecoin to local bank conversions.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Global Reach: Enables localized remittance and withdrawal rails across 180+ countries.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Embedded Compliance: Supports regulated assets and identity hooks natively on-chain.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Trebuchet MS"/>
              </a:defRPr>
            </a:pPr>
            <a:r>
              <a:t>Soroban Smart Contracts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Secure Execution: Rust-based WebAssembly (Wasm) architecture provides sandboxed safety.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Minimal Fees: State archive storage costs are optimized, keeping smart contract state fees low.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Modular Escrows: Highly extensible milestone dispute resolution logic can be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STELLAR ESCROW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Trebuchet MS"/>
              </a:defRPr>
            </a:pPr>
            <a:r>
              <a:t>Intuitive Web3 User Experience</a:t>
            </a:r>
          </a:p>
        </p:txBody>
      </p:sp>
      <p:pic>
        <p:nvPicPr>
          <p:cNvPr id="6" name="Picture 5" descr="im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3291840" cy="21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114800"/>
            <a:ext cx="3291840" cy="18288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1. Dashboard Overviews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The client/freelancer sees active escrow milestones, on-chain balances, and custom visual statuses.</a:t>
            </a:r>
          </a:p>
        </p:txBody>
      </p:sp>
      <p:pic>
        <p:nvPicPr>
          <p:cNvPr id="9" name="Picture 8" descr="imag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828800"/>
            <a:ext cx="3291840" cy="2103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89120" y="4114800"/>
            <a:ext cx="3291840" cy="18288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297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2. Guided Onboarding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Interactive tutorial directs first-time Web3 users to install Freighter and get test XLM from Friendbot.</a:t>
            </a:r>
          </a:p>
        </p:txBody>
      </p:sp>
      <p:pic>
        <p:nvPicPr>
          <p:cNvPr id="12" name="Picture 11" descr="image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28800"/>
            <a:ext cx="3291840" cy="2103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46720" y="4114800"/>
            <a:ext cx="3291840" cy="18288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3. Verified Telemetry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Integrated event trackers monitor active user funnels and Soroban ledger transactions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STELLAR ESCROW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Trebuchet MS"/>
              </a:defRPr>
            </a:pPr>
            <a:r>
              <a:t>Decentralized 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286000" cy="32004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920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Trebuchet MS"/>
              </a:defRPr>
            </a:pPr>
            <a:r>
              <a:t>1. React Frontend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Tailwind CSS for UI layout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Glassmorphic design system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Context API state management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3383280"/>
            <a:ext cx="365760" cy="36576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286000" cy="32004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194560"/>
            <a:ext cx="1920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Trebuchet MS"/>
              </a:defRPr>
            </a:pPr>
            <a:r>
              <a:t>2. Wallet Connect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StellarWalletsKit SDK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Freighter browser extension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Secure transaction signing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43600" y="3383280"/>
            <a:ext cx="365760" cy="36576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286000" cy="32004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1920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Trebuchet MS"/>
              </a:defRPr>
            </a:pPr>
            <a:r>
              <a:t>3. Soroban Escrow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Rust Smart Contract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Milestone state mapping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State-locked escrow balance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78240" y="3383280"/>
            <a:ext cx="365760" cy="36576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011680"/>
            <a:ext cx="2286000" cy="32004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194560"/>
            <a:ext cx="1920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4. Stellar Ledger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Decentralized ledger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Fast consensus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Public audit explorer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Calibri"/>
              </a:defRPr>
            </a:pPr>
            <a:r>
              <a:t>⚡ STABILITY &amp; TELEMETRY LAYER: Real-time user event indexing via PostHog. Frontend exceptions captured and logged in real-time by Sentry to ensure 99.9% client-side uptime.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STELLAR ESCROW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Trebuchet MS"/>
              </a:defRPr>
            </a:pPr>
            <a:r>
              <a:t>Market Opportunity: Global Freelance Economy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Trebuchet MS"/>
              </a:defRPr>
            </a:pPr>
            <a:r>
              <a:t>A Massively Expanding Global Market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Market Size: Projections reach $455 Billion by Mastercard gig economy studies.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Remote Work Adoption: The transition to remote-first collaboration has amplified cross-border hiring.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Transaction Overhead: Over $100 Billion is spent annually in bank fees and marketplace cuts.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Maturing Rails: Web3 wallet usage and native currency adoption are hitting mainstream thresholds.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6634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The Cross-Border Payment Bottleneck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High Friction: Global transfers face currency conversion markups, regulatory delays, and intermediary banking cuts.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Trust Bottleneck: Escrows are either highly expensive (marketplaces extracting 20%) or non-existent.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Opportunity: StellarEscrow offers trustless security for the same price as fractions of a cent, removing intermediary margin extraction entirely.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STELLAR ESCROW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Trebuchet MS"/>
              </a:defRPr>
            </a:pPr>
            <a:r>
              <a:t>Testnet Validation &amp;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91840" cy="1828800"/>
          </a:xfrm>
          <a:prstGeom prst="rect">
            <a:avLst/>
          </a:prstGeom>
          <a:solidFill>
            <a:srgbClr val="101623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59E0B"/>
                </a:solidFill>
                <a:latin typeface="Trebuchet MS"/>
              </a:defRPr>
            </a:pPr>
            <a:r>
              <a:t>55+</a:t>
            </a:r>
          </a:p>
          <a:p>
            <a:pPr algn="ctr">
              <a:defRPr sz="1400">
                <a:solidFill>
                  <a:srgbClr val="F3F4F6"/>
                </a:solidFill>
                <a:latin typeface="Calibri"/>
              </a:defRPr>
            </a:pPr>
            <a:r>
              <a:t>Onboarded Testnet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291840" cy="1828800"/>
          </a:xfrm>
          <a:prstGeom prst="rect">
            <a:avLst/>
          </a:prstGeom>
          <a:solidFill>
            <a:srgbClr val="101623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3B82F6"/>
                </a:solidFill>
                <a:latin typeface="Trebuchet MS"/>
              </a:defRPr>
            </a:pPr>
            <a:r>
              <a:t>72+</a:t>
            </a:r>
          </a:p>
          <a:p>
            <a:pPr algn="ctr">
              <a:defRPr sz="1400">
                <a:solidFill>
                  <a:srgbClr val="F3F4F6"/>
                </a:solidFill>
                <a:latin typeface="Calibri"/>
              </a:defRPr>
            </a:pPr>
            <a:r>
              <a:t>On-Chain Transactions Logged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291840" cy="1828800"/>
          </a:xfrm>
          <a:prstGeom prst="rect">
            <a:avLst/>
          </a:prstGeom>
          <a:solidFill>
            <a:srgbClr val="101623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8B5CF6"/>
                </a:solidFill>
                <a:latin typeface="Trebuchet MS"/>
              </a:defRPr>
            </a:pPr>
            <a:r>
              <a:t>4.8 / 5</a:t>
            </a:r>
          </a:p>
          <a:p>
            <a:pPr algn="ctr">
              <a:defRPr sz="1400">
                <a:solidFill>
                  <a:srgbClr val="F3F4F6"/>
                </a:solidFill>
                <a:latin typeface="Calibri"/>
              </a:defRPr>
            </a:pPr>
            <a:r>
              <a:t>Average User Satisfaction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607040" cy="1645920"/>
          </a:xfrm>
          <a:prstGeom prst="roundRect">
            <a:avLst/>
          </a:prstGeom>
          <a:solidFill>
            <a:srgbClr val="101623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🗣️ KEY USER INSIGHT</a:t>
            </a:r>
          </a:p>
          <a:p>
            <a:pPr>
              <a:spcBef>
                <a:spcPts val="800"/>
              </a:spcBef>
              <a:defRPr sz="1300" i="1">
                <a:solidFill>
                  <a:srgbClr val="F3F4F6"/>
                </a:solidFill>
                <a:latin typeface="Calibri"/>
              </a:defRPr>
            </a:pPr>
            <a:r>
              <a:t>"Having milestone funds locked transparently on-chain gives freelancers immediate peace of mind before writing a line of code, while clients love only paying for verified, complete deliverables."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STELLAR ESCROW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Trebuchet MS"/>
              </a:defRPr>
            </a:pPr>
            <a:r>
              <a:t>Go-To-Market &amp; Growth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192024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Freelance Communities Integration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Targeting freelance subreddits, Discord channels, and LinkedIn contract networks.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Grassroots marketing focused on non-payment horror stories and heavy marketplace cuts.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192024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Pilot Agency Programs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Onboarding boutique software development and design agencies as power users.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Focus on agency clients who value structured milestone billing.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029200" cy="192024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Trebuchet MS"/>
              </a:defRPr>
            </a:pPr>
            <a:r>
              <a:t>Built-in Viral Invite Loop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When a client creates a project, the freelancer receives an email invite link to claim it.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Dual-sided onboarding: each user introduces another to the platform.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029200" cy="192024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Educational Content Funnel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Writing clear, jargon-free guides on Web3 utility for traditional remote workers.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Hiding blockchain complexity beneath clean, familiar interfaces.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STELLAR ESCROW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Trebuchet MS"/>
              </a:defRPr>
            </a:pPr>
            <a:r>
              <a:t>Product Roadmap &amp; Future Milestones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377440" cy="347472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Trebuchet MS"/>
              </a:defRPr>
            </a:pPr>
            <a:r>
              <a:t>Phase 1: Testnet MVP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Complete milestone escrow contract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StellarWalletsKit interface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Onboarded 50+ real testers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Sentry + PostHog integrated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86000"/>
            <a:ext cx="2377440" cy="347472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Phase 2: Anchor Connect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Stellar Anchor integrations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Local banking on/off-ramps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Support for fiat stablecoins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Regulated identity profiles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86000"/>
            <a:ext cx="2377440" cy="347472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Phase 3: Escrow DAO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Multi-arbitrator dispute resolution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Decentralized juror pools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Subscription payment options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Retainer lock contracts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286000"/>
            <a:ext cx="2377440" cy="347472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46888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Phase 4: Mainnet Payouts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Mainnet contract deploy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Viral growth loop incentives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Integration with global invoice apps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Scale to $10M+ transaction volume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STELLAR ESCROW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Trebuchet MS"/>
              </a:defRPr>
            </a:pPr>
            <a:r>
              <a:t>Ecosystem Integration &amp; 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The Ask: Growth &amp; Mainnet Support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Ecosystem Funding: Development grant to subsidize initial mainnet fee reserves.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Design Partners: Boutique agencies to test fiat on-ramp integrations.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Feedback &amp; Reviews: Join our testnet trials to refine smart contract escrow usability.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0162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6634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Ecosystem Integration Opportunities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Invoice Software API: Plug trustless escrows directly into standard billing systems.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Freelance Marketplace Plugins: Add 'Pay via StellarEscrow' buttons to external platforms.</a:t>
            </a:r>
          </a:p>
          <a:p>
            <a:pPr>
              <a:spcBef>
                <a:spcPts val="800"/>
              </a:spcBef>
              <a:defRPr sz="1300">
                <a:solidFill>
                  <a:srgbClr val="F3F4F6"/>
                </a:solidFill>
                <a:latin typeface="Calibri"/>
              </a:defRPr>
            </a:pPr>
            <a:r>
              <a:t>• Stellar Network Alignment: Drive transaction volume and anchor utility on Stellar Testnet and Mainnet.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46704" y="1371600"/>
            <a:ext cx="5486400" cy="41148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3F4F6"/>
                </a:solidFill>
                <a:latin typeface="Trebuchet MS"/>
              </a:defRPr>
            </a:pPr>
            <a:r>
              <a:t>Join the Payments Revolution</a:t>
            </a:r>
          </a:p>
          <a:p>
            <a:pPr algn="ctr">
              <a:spcBef>
                <a:spcPts val="1400"/>
              </a:spcBef>
              <a:defRPr sz="2000">
                <a:solidFill>
                  <a:srgbClr val="F59E0B"/>
                </a:solidFill>
                <a:latin typeface="Calibri"/>
              </a:defRPr>
            </a:pPr>
            <a:r>
              <a:t>Built on Stellar. Powered by Soroban.</a:t>
            </a:r>
          </a:p>
          <a:p>
            <a:pPr algn="ctr">
              <a:spcBef>
                <a:spcPts val="2400"/>
              </a:spcBef>
              <a:defRPr sz="1600">
                <a:solidFill>
                  <a:srgbClr val="3B82F6"/>
                </a:solidFill>
                <a:latin typeface="Calibri"/>
              </a:defRPr>
            </a:pPr>
            <a:r>
              <a:t>Live Demo: stellar-escrowlevel-5.vercel.app  •  GitHub: github.com/shwetasharma44044-eng/StellarEscrowlevel-5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CA3AF"/>
                </a:solidFill>
                <a:latin typeface="Calibri"/>
              </a:defRPr>
            </a:pPr>
            <a:r>
              <a:t>Contact: contact@stellarescrow.com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